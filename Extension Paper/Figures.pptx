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4" d="100"/>
          <a:sy n="104" d="100"/>
        </p:scale>
        <p:origin x="83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55B5B-26D0-DD33-E496-E85241C7F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5E882-F9A9-0D15-E112-4CD8F30AE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2FBF5-29AD-FDEB-581A-54BC4109D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81749-A6BC-4F78-ABD6-FAF134A84936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D585A-AF2B-2B36-C121-CAE3C2A8A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3A036-CF2E-EC5C-69A3-23D3C3913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3AC84-D3CD-45AA-8464-C12CBD024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115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74C9B-86BB-4370-AB0B-B088CF636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D6B95-3FA7-3CC2-8A1D-76989FB0E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C5D61-66AC-1055-1183-7CC68F16A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81749-A6BC-4F78-ABD6-FAF134A84936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D5164-8B7F-59CF-A2D4-0E111BBA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2521B-94BB-38D7-F392-B6FC66E0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3AC84-D3CD-45AA-8464-C12CBD024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918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560BC-5BA2-056D-3277-6A22D436A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415A1-5528-B20F-B2D6-E2076CB31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4D2A3-BAF8-A396-25BE-A183C290A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81749-A6BC-4F78-ABD6-FAF134A84936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6EF87-D106-ABD2-6162-42DE698AE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6199D-995D-45E1-BE4F-39DC85F07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3AC84-D3CD-45AA-8464-C12CBD024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541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C8A2D-45A5-9F9A-8B58-4C74653CA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F3532-2B05-7E69-E69C-206B2FB939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129E32-6FE5-DB79-AA1B-6A22F880BE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3E01D-0C4A-97D9-6E19-7B8B3CAF1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81749-A6BC-4F78-ABD6-FAF134A84936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B06995-6DE4-8716-760B-42778B29E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178BFF-0D11-E1A2-BDE6-9B3735CC6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3AC84-D3CD-45AA-8464-C12CBD024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972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4B62B-C8B8-AF31-B729-6311495EA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CBB3CC-0B63-2876-A268-82167512A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249B7B-2E4E-744C-F239-432E7919D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E6F00E-3F75-4F76-42CE-20A90EB6AF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3CED63-A216-F31C-5BA9-FB07219A92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CA1949-B0F5-61FF-CCF9-62DA86046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81749-A6BC-4F78-ABD6-FAF134A84936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6174DE-5B58-8260-8669-D95F2607B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E9E143-6AC0-5F02-E741-F3C028A0E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3AC84-D3CD-45AA-8464-C12CBD024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439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D3BEF-1A25-183D-6285-2057B4CE3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2C0FE0-EF39-A947-61B4-12843C895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81749-A6BC-4F78-ABD6-FAF134A84936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FE4D9E-B298-EEF6-4B98-65C09B01B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80C460-95B7-AED1-9F7F-DEDAB0262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3AC84-D3CD-45AA-8464-C12CBD024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760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5F3201-C133-D386-ACB0-37AB800D0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81749-A6BC-4F78-ABD6-FAF134A84936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971BA0-EA57-5BF8-12C5-EEDF9BE08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64258-CFDD-E437-9B00-D82C5F535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3AC84-D3CD-45AA-8464-C12CBD024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910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69B0C-1ABC-CA33-2B77-90E311A8D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39BB3-D1FA-3FA8-956E-2168B1D12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20BE86-7F2E-123C-2941-93E1E7A2FD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6ED14-B09C-0063-A53F-64B50A3C7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81749-A6BC-4F78-ABD6-FAF134A84936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3826BF-7199-7C78-8C08-B4AD6A3E1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5CB70E-6C0F-7C37-7792-0F45626A9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3AC84-D3CD-45AA-8464-C12CBD024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66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07BCA-7154-0CBA-1C83-87EDF1DC3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858D88-C8C8-613F-AF1C-5C977C2589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FA2B7-27E4-CCFC-1F1F-5817D8D693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126F07-22FD-D3EE-6CC3-94423B6FB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81749-A6BC-4F78-ABD6-FAF134A84936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75C654-FA54-379A-B495-919958515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9B1E78-9615-4BA7-03B0-2739CD043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3AC84-D3CD-45AA-8464-C12CBD024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148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0FF67-C1F1-4DF6-F7CF-F3AD7CC3C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4308EF-0486-DE35-BF32-0AFB99184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D09FB-2F29-C1D0-C2CD-8A07AD320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81749-A6BC-4F78-ABD6-FAF134A84936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7E649-D3E7-D4F6-8DC9-7137CB452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56485-5C73-A52D-9219-BFBA7A869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3AC84-D3CD-45AA-8464-C12CBD024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28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1065B8-0477-A824-62B8-CF521D8504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6F7024-1362-9A13-DF71-930EA3D9AE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EB7AF-2706-A182-651B-733EB51FE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81749-A6BC-4F78-ABD6-FAF134A84936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A73EC-9D34-175B-10CF-4C3DC317E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EE39E-1260-1050-109A-87B8BA96F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3AC84-D3CD-45AA-8464-C12CBD024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31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82DAD6-8CBE-4227-8216-4538ED248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565FEB-E764-6E11-896E-93014DC6A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730B8-96FE-1945-2E0E-D39BFCDD7D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81749-A6BC-4F78-ABD6-FAF134A84936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3C375-030A-C7AC-382D-B104D298EF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36EB0-B0E3-60FC-6E75-3C07CAC051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13AC84-D3CD-45AA-8464-C12CBD024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50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AE8477-C0DF-8EC5-4C00-BC9DD16AEE0B}"/>
              </a:ext>
            </a:extLst>
          </p:cNvPr>
          <p:cNvSpPr txBox="1"/>
          <p:nvPr/>
        </p:nvSpPr>
        <p:spPr>
          <a:xfrm>
            <a:off x="3738241" y="0"/>
            <a:ext cx="4715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rPr>
              <a:t>Spring (MAM) Drought Chart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0F1E29A-4947-458A-CD39-2CB8EB454B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804716"/>
              </p:ext>
            </p:extLst>
          </p:nvPr>
        </p:nvGraphicFramePr>
        <p:xfrm>
          <a:off x="1694687" y="506944"/>
          <a:ext cx="8802626" cy="630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616">
                  <a:extLst>
                    <a:ext uri="{9D8B030D-6E8A-4147-A177-3AD203B41FA5}">
                      <a16:colId xmlns:a16="http://schemas.microsoft.com/office/drawing/2014/main" val="3239605922"/>
                    </a:ext>
                  </a:extLst>
                </a:gridCol>
                <a:gridCol w="1232002">
                  <a:extLst>
                    <a:ext uri="{9D8B030D-6E8A-4147-A177-3AD203B41FA5}">
                      <a16:colId xmlns:a16="http://schemas.microsoft.com/office/drawing/2014/main" val="3166118276"/>
                    </a:ext>
                  </a:extLst>
                </a:gridCol>
                <a:gridCol w="1232002">
                  <a:extLst>
                    <a:ext uri="{9D8B030D-6E8A-4147-A177-3AD203B41FA5}">
                      <a16:colId xmlns:a16="http://schemas.microsoft.com/office/drawing/2014/main" val="219490737"/>
                    </a:ext>
                  </a:extLst>
                </a:gridCol>
                <a:gridCol w="1232002">
                  <a:extLst>
                    <a:ext uri="{9D8B030D-6E8A-4147-A177-3AD203B41FA5}">
                      <a16:colId xmlns:a16="http://schemas.microsoft.com/office/drawing/2014/main" val="941954831"/>
                    </a:ext>
                  </a:extLst>
                </a:gridCol>
                <a:gridCol w="1232002">
                  <a:extLst>
                    <a:ext uri="{9D8B030D-6E8A-4147-A177-3AD203B41FA5}">
                      <a16:colId xmlns:a16="http://schemas.microsoft.com/office/drawing/2014/main" val="1165229448"/>
                    </a:ext>
                  </a:extLst>
                </a:gridCol>
                <a:gridCol w="1232002">
                  <a:extLst>
                    <a:ext uri="{9D8B030D-6E8A-4147-A177-3AD203B41FA5}">
                      <a16:colId xmlns:a16="http://schemas.microsoft.com/office/drawing/2014/main" val="3334232687"/>
                    </a:ext>
                  </a:extLst>
                </a:gridCol>
              </a:tblGrid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City, County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D0</a:t>
                      </a:r>
                    </a:p>
                  </a:txBody>
                  <a:tcPr>
                    <a:solidFill>
                      <a:srgbClr val="FC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D1</a:t>
                      </a:r>
                    </a:p>
                  </a:txBody>
                  <a:tcPr>
                    <a:solidFill>
                      <a:srgbClr val="FFD0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D2</a:t>
                      </a:r>
                    </a:p>
                  </a:txBody>
                  <a:tcPr>
                    <a:solidFill>
                      <a:srgbClr val="E49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D3</a:t>
                      </a:r>
                    </a:p>
                  </a:txBody>
                  <a:tcPr>
                    <a:solidFill>
                      <a:srgbClr val="E304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D4</a:t>
                      </a:r>
                    </a:p>
                  </a:txBody>
                  <a:tcPr>
                    <a:solidFill>
                      <a:srgbClr val="76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665979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Albany, Gentry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8.24”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7.35”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762711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Auxvasse, Audrain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9.48”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8.55”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7.12”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6.36”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5.42”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3021028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Brunswick, Carroll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9.11”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8.22”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6.87”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6.14”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5.25”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474658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Cardwell, Dunklin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11.95”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10.79”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9.03”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8.07”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6.91”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466395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Charleston, Mississippi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11.47”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10.28”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8.50”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7.54”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6.38”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295105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Clarkton, Dunklin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11.95”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10.86”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9.19”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8.27”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7.16”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478158"/>
                  </a:ext>
                </a:extLst>
              </a:tr>
              <a:tr h="494056">
                <a:tc>
                  <a:txBody>
                    <a:bodyPr/>
                    <a:lstStyle/>
                    <a:p>
                      <a:r>
                        <a:rPr lang="en-US" sz="1400" dirty="0"/>
                        <a:t>Columbia-Sanborn Field, Boone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9.70”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8.69”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7.17”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6.36”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5.37”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213785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Columbia-South Farms, Boone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9.85”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8.81”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7.25”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6.41”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5.40”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8229908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Cook Station, Crawford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10.56”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9.34”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7.53”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6.57”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5.43”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971368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Corning, Atchison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7.38”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6.56”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5.33”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4.68”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3.90”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804581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Delta, Cape Girardeau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11.58”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10.08”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7.88”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6.74”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5.41”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7471447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 err="1"/>
                        <a:t>Glennonville</a:t>
                      </a:r>
                      <a:r>
                        <a:rPr lang="en-US" sz="1400" dirty="0"/>
                        <a:t>, Dunklin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11.31”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10.15”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8.41”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7.48”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6.34”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414910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Hayward, Pemiscot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12.11”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10.97”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9.23”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8.28”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7.13”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996517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Lamar, Barton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10.87”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9.64”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7.80”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6.82”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5.66”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952171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 err="1"/>
                        <a:t>Linneus</a:t>
                      </a:r>
                      <a:r>
                        <a:rPr lang="en-US" sz="1400" dirty="0"/>
                        <a:t>, Linn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8.62”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7.64”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6.18”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5.41”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4.49”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671856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Monroe City, Monroe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8.60”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7.69”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6.32”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5.58”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71135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Novelty, Knox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8.99”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7.93”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6.36”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5.53”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4.54”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2255389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Portageville, Pemiscot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12.22”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11.07”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9.33”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8.38”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7.22”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11651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St. Joseph, Buchanan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8.84”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8.09”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6.95”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6.31”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5.54”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6364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0932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AE8477-C0DF-8EC5-4C00-BC9DD16AEE0B}"/>
              </a:ext>
            </a:extLst>
          </p:cNvPr>
          <p:cNvSpPr txBox="1"/>
          <p:nvPr/>
        </p:nvSpPr>
        <p:spPr>
          <a:xfrm>
            <a:off x="3733881" y="0"/>
            <a:ext cx="47242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rPr>
              <a:t>Summer (JJA) Drought Chart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0F1E29A-4947-458A-CD39-2CB8EB454B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197969"/>
              </p:ext>
            </p:extLst>
          </p:nvPr>
        </p:nvGraphicFramePr>
        <p:xfrm>
          <a:off x="1694687" y="506944"/>
          <a:ext cx="8802626" cy="630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616">
                  <a:extLst>
                    <a:ext uri="{9D8B030D-6E8A-4147-A177-3AD203B41FA5}">
                      <a16:colId xmlns:a16="http://schemas.microsoft.com/office/drawing/2014/main" val="3239605922"/>
                    </a:ext>
                  </a:extLst>
                </a:gridCol>
                <a:gridCol w="1232002">
                  <a:extLst>
                    <a:ext uri="{9D8B030D-6E8A-4147-A177-3AD203B41FA5}">
                      <a16:colId xmlns:a16="http://schemas.microsoft.com/office/drawing/2014/main" val="3166118276"/>
                    </a:ext>
                  </a:extLst>
                </a:gridCol>
                <a:gridCol w="1232002">
                  <a:extLst>
                    <a:ext uri="{9D8B030D-6E8A-4147-A177-3AD203B41FA5}">
                      <a16:colId xmlns:a16="http://schemas.microsoft.com/office/drawing/2014/main" val="219490737"/>
                    </a:ext>
                  </a:extLst>
                </a:gridCol>
                <a:gridCol w="1232002">
                  <a:extLst>
                    <a:ext uri="{9D8B030D-6E8A-4147-A177-3AD203B41FA5}">
                      <a16:colId xmlns:a16="http://schemas.microsoft.com/office/drawing/2014/main" val="941954831"/>
                    </a:ext>
                  </a:extLst>
                </a:gridCol>
                <a:gridCol w="1232002">
                  <a:extLst>
                    <a:ext uri="{9D8B030D-6E8A-4147-A177-3AD203B41FA5}">
                      <a16:colId xmlns:a16="http://schemas.microsoft.com/office/drawing/2014/main" val="1165229448"/>
                    </a:ext>
                  </a:extLst>
                </a:gridCol>
                <a:gridCol w="1232002">
                  <a:extLst>
                    <a:ext uri="{9D8B030D-6E8A-4147-A177-3AD203B41FA5}">
                      <a16:colId xmlns:a16="http://schemas.microsoft.com/office/drawing/2014/main" val="3334232687"/>
                    </a:ext>
                  </a:extLst>
                </a:gridCol>
              </a:tblGrid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City, County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D0</a:t>
                      </a:r>
                    </a:p>
                  </a:txBody>
                  <a:tcPr>
                    <a:solidFill>
                      <a:srgbClr val="FC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D1</a:t>
                      </a:r>
                    </a:p>
                  </a:txBody>
                  <a:tcPr>
                    <a:solidFill>
                      <a:srgbClr val="FFD0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D2</a:t>
                      </a:r>
                    </a:p>
                  </a:txBody>
                  <a:tcPr>
                    <a:solidFill>
                      <a:srgbClr val="E49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D3</a:t>
                      </a:r>
                    </a:p>
                  </a:txBody>
                  <a:tcPr>
                    <a:solidFill>
                      <a:srgbClr val="E304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D4</a:t>
                      </a:r>
                    </a:p>
                  </a:txBody>
                  <a:tcPr>
                    <a:solidFill>
                      <a:srgbClr val="76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665979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Albany, Gentry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10.29”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9.18”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7.52”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6.63”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5.56”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762711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Auxvasse, Audrain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10.19”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8.99”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7.21”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6.26”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5.15”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3021028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Brunswick, Carroll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11.45”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10.35”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8.68”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7.77”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6.66”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474658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Cardwell, Dunklin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8.55”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7.78”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6.60”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5.95”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5.17”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466395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Charleston, Mississippi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8.35”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7.42”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6.04”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5.30”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4.42”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295105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Clarkton, Dunklin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7.62”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6.85”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5.67”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5.04”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4.28”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478158"/>
                  </a:ext>
                </a:extLst>
              </a:tr>
              <a:tr h="494056">
                <a:tc>
                  <a:txBody>
                    <a:bodyPr/>
                    <a:lstStyle/>
                    <a:p>
                      <a:r>
                        <a:rPr lang="en-US" sz="1400" dirty="0"/>
                        <a:t>Columbia-Sanborn Field, Boone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9.81”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8.60”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6.82”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5.89”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4.79”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213785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Columbia-South Farms, Boone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9.76”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8.57”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6.81”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5.89”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4.81”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8229908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Cook Station, Crawford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9.69”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8.99”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7.90”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7.29”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6.53”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971368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Corning, Atchison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9.53”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8.66”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7.31”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6.58”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5.69”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804581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Delta, Cape Girardeau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9.26”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8.21”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6.63”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5.79”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4.80”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7471447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 err="1"/>
                        <a:t>Glennonville</a:t>
                      </a:r>
                      <a:r>
                        <a:rPr lang="en-US" sz="1400" dirty="0"/>
                        <a:t>, Dunklin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7.06”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6.19”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4.91”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4.23”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3.44”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414910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Hayward, Pemiscot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7.98”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7.06”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5.68”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4.95”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4.08”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996517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Lamar, Barton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10.13”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9.16”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7.70”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6.91”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5.94”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952171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 err="1"/>
                        <a:t>Linneus</a:t>
                      </a:r>
                      <a:r>
                        <a:rPr lang="en-US" sz="1400" dirty="0"/>
                        <a:t>, Linn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10.58”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9.43”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7.71”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6.79”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5.68”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671856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Monroe City, Monroe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9.78”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8.78”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7.27”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6.45”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5.47”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71135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Novelty, Knox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10.06”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8.78”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6.90”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5.92”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4.78”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2255389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Portageville, Pemiscot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7.76”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6.81”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5.42”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4.69”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3.83”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11651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St. Joseph, Buchanan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10.79”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9.61”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7.85”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6.91”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5.78”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6364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1569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AE8477-C0DF-8EC5-4C00-BC9DD16AEE0B}"/>
              </a:ext>
            </a:extLst>
          </p:cNvPr>
          <p:cNvSpPr txBox="1"/>
          <p:nvPr/>
        </p:nvSpPr>
        <p:spPr>
          <a:xfrm>
            <a:off x="3755073" y="0"/>
            <a:ext cx="4681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rPr>
              <a:t>Autum (SON) Drought Chart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0F1E29A-4947-458A-CD39-2CB8EB454B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141831"/>
              </p:ext>
            </p:extLst>
          </p:nvPr>
        </p:nvGraphicFramePr>
        <p:xfrm>
          <a:off x="1694687" y="506944"/>
          <a:ext cx="8802626" cy="630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616">
                  <a:extLst>
                    <a:ext uri="{9D8B030D-6E8A-4147-A177-3AD203B41FA5}">
                      <a16:colId xmlns:a16="http://schemas.microsoft.com/office/drawing/2014/main" val="3239605922"/>
                    </a:ext>
                  </a:extLst>
                </a:gridCol>
                <a:gridCol w="1232002">
                  <a:extLst>
                    <a:ext uri="{9D8B030D-6E8A-4147-A177-3AD203B41FA5}">
                      <a16:colId xmlns:a16="http://schemas.microsoft.com/office/drawing/2014/main" val="3166118276"/>
                    </a:ext>
                  </a:extLst>
                </a:gridCol>
                <a:gridCol w="1232002">
                  <a:extLst>
                    <a:ext uri="{9D8B030D-6E8A-4147-A177-3AD203B41FA5}">
                      <a16:colId xmlns:a16="http://schemas.microsoft.com/office/drawing/2014/main" val="219490737"/>
                    </a:ext>
                  </a:extLst>
                </a:gridCol>
                <a:gridCol w="1232002">
                  <a:extLst>
                    <a:ext uri="{9D8B030D-6E8A-4147-A177-3AD203B41FA5}">
                      <a16:colId xmlns:a16="http://schemas.microsoft.com/office/drawing/2014/main" val="941954831"/>
                    </a:ext>
                  </a:extLst>
                </a:gridCol>
                <a:gridCol w="1232002">
                  <a:extLst>
                    <a:ext uri="{9D8B030D-6E8A-4147-A177-3AD203B41FA5}">
                      <a16:colId xmlns:a16="http://schemas.microsoft.com/office/drawing/2014/main" val="1165229448"/>
                    </a:ext>
                  </a:extLst>
                </a:gridCol>
                <a:gridCol w="1232002">
                  <a:extLst>
                    <a:ext uri="{9D8B030D-6E8A-4147-A177-3AD203B41FA5}">
                      <a16:colId xmlns:a16="http://schemas.microsoft.com/office/drawing/2014/main" val="3334232687"/>
                    </a:ext>
                  </a:extLst>
                </a:gridCol>
              </a:tblGrid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City, County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D0</a:t>
                      </a:r>
                    </a:p>
                  </a:txBody>
                  <a:tcPr>
                    <a:solidFill>
                      <a:srgbClr val="FC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D1</a:t>
                      </a:r>
                    </a:p>
                  </a:txBody>
                  <a:tcPr>
                    <a:solidFill>
                      <a:srgbClr val="FFD0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D2</a:t>
                      </a:r>
                    </a:p>
                  </a:txBody>
                  <a:tcPr>
                    <a:solidFill>
                      <a:srgbClr val="E49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D3</a:t>
                      </a:r>
                    </a:p>
                  </a:txBody>
                  <a:tcPr>
                    <a:solidFill>
                      <a:srgbClr val="E304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D4</a:t>
                      </a:r>
                    </a:p>
                  </a:txBody>
                  <a:tcPr>
                    <a:solidFill>
                      <a:srgbClr val="76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665979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Albany, Gentry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5.67”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5.08”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4.19”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3.72”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3.14”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762711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Auxvasse, Audrain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6.50”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5.77”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4.70”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4.12”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3.44”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3021028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Brunswick, Carroll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6.72”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6.26”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5.54”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5.14”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4.63”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474658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Cardwell, Dunklin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8.46”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7.46”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5.97”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5.19”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4.26”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466395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Charleston, Mississippi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8.05”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7.06”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5.61”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4.85”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3.95”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295105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Clarkton, Dunklin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8.11”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7.07”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5.56”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4.77”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3.84”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478158"/>
                  </a:ext>
                </a:extLst>
              </a:tr>
              <a:tr h="494056">
                <a:tc>
                  <a:txBody>
                    <a:bodyPr/>
                    <a:lstStyle/>
                    <a:p>
                      <a:r>
                        <a:rPr lang="en-US" sz="1400" dirty="0"/>
                        <a:t>Columbia-Sanborn Field, Boone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7.28”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6.54”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5.42”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4.82”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4.09”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213785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Columbia-South Farms, Boone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7.17”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6.40”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5.25”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4.63”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3.89”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8229908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Cook Station, Crawford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7.27”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6.41”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5.13”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4.46”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3.67”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971368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Corning, Atchison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5.10”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4.54”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3.69”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3.24”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2.71”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804581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Delta, Cape Girardeau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8.30”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7.37”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5.99”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5.25”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4.38”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7471447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 err="1"/>
                        <a:t>Glennonville</a:t>
                      </a:r>
                      <a:r>
                        <a:rPr lang="en-US" sz="1400" dirty="0"/>
                        <a:t>, Dunklin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7.80”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6.79”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5.31”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4.54”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3.65”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414910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Hayward, Pemiscot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8.55”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7.44”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5.81”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4.97”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3.98”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996517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Lamar, Barton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7.68”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6.97”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5.90”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5.31”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4.60”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952171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 err="1"/>
                        <a:t>Linneus</a:t>
                      </a:r>
                      <a:r>
                        <a:rPr lang="en-US" sz="1400" dirty="0"/>
                        <a:t>, Linn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6.50”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5.84”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4.83”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4.29”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3.64”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671856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Monroe City, Monroe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6.70”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5.91”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4.75”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4.14”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3.41”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71135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Novelty, Knox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7.19”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6.47”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5.39”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4.80”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4.09”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2255389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Portageville, Pemiscot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8.44”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7.27”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5.59”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4.72”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3.72”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11651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St. Joseph, Buchanan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6.26”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5.72”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4.88”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4.42”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3.86”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6364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1385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AE8477-C0DF-8EC5-4C00-BC9DD16AEE0B}"/>
              </a:ext>
            </a:extLst>
          </p:cNvPr>
          <p:cNvSpPr txBox="1"/>
          <p:nvPr/>
        </p:nvSpPr>
        <p:spPr>
          <a:xfrm>
            <a:off x="3832530" y="0"/>
            <a:ext cx="45269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rPr>
              <a:t>Winter (DJF) Drought Chart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0F1E29A-4947-458A-CD39-2CB8EB454B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640876"/>
              </p:ext>
            </p:extLst>
          </p:nvPr>
        </p:nvGraphicFramePr>
        <p:xfrm>
          <a:off x="1694687" y="506944"/>
          <a:ext cx="8802626" cy="630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616">
                  <a:extLst>
                    <a:ext uri="{9D8B030D-6E8A-4147-A177-3AD203B41FA5}">
                      <a16:colId xmlns:a16="http://schemas.microsoft.com/office/drawing/2014/main" val="3239605922"/>
                    </a:ext>
                  </a:extLst>
                </a:gridCol>
                <a:gridCol w="1232002">
                  <a:extLst>
                    <a:ext uri="{9D8B030D-6E8A-4147-A177-3AD203B41FA5}">
                      <a16:colId xmlns:a16="http://schemas.microsoft.com/office/drawing/2014/main" val="3166118276"/>
                    </a:ext>
                  </a:extLst>
                </a:gridCol>
                <a:gridCol w="1232002">
                  <a:extLst>
                    <a:ext uri="{9D8B030D-6E8A-4147-A177-3AD203B41FA5}">
                      <a16:colId xmlns:a16="http://schemas.microsoft.com/office/drawing/2014/main" val="219490737"/>
                    </a:ext>
                  </a:extLst>
                </a:gridCol>
                <a:gridCol w="1232002">
                  <a:extLst>
                    <a:ext uri="{9D8B030D-6E8A-4147-A177-3AD203B41FA5}">
                      <a16:colId xmlns:a16="http://schemas.microsoft.com/office/drawing/2014/main" val="941954831"/>
                    </a:ext>
                  </a:extLst>
                </a:gridCol>
                <a:gridCol w="1232002">
                  <a:extLst>
                    <a:ext uri="{9D8B030D-6E8A-4147-A177-3AD203B41FA5}">
                      <a16:colId xmlns:a16="http://schemas.microsoft.com/office/drawing/2014/main" val="1165229448"/>
                    </a:ext>
                  </a:extLst>
                </a:gridCol>
                <a:gridCol w="1232002">
                  <a:extLst>
                    <a:ext uri="{9D8B030D-6E8A-4147-A177-3AD203B41FA5}">
                      <a16:colId xmlns:a16="http://schemas.microsoft.com/office/drawing/2014/main" val="3334232687"/>
                    </a:ext>
                  </a:extLst>
                </a:gridCol>
              </a:tblGrid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City, County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D0</a:t>
                      </a:r>
                    </a:p>
                  </a:txBody>
                  <a:tcPr>
                    <a:solidFill>
                      <a:srgbClr val="FC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D1</a:t>
                      </a:r>
                    </a:p>
                  </a:txBody>
                  <a:tcPr>
                    <a:solidFill>
                      <a:srgbClr val="FFD0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D2</a:t>
                      </a:r>
                    </a:p>
                  </a:txBody>
                  <a:tcPr>
                    <a:solidFill>
                      <a:srgbClr val="E49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D3</a:t>
                      </a:r>
                    </a:p>
                  </a:txBody>
                  <a:tcPr>
                    <a:solidFill>
                      <a:srgbClr val="E304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D4</a:t>
                      </a:r>
                    </a:p>
                  </a:txBody>
                  <a:tcPr>
                    <a:solidFill>
                      <a:srgbClr val="76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665979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Albany, Gentry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1.79”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1.49”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1.08”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0.88”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0.65”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762711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Auxvasse, Audrain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4.20”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3.65”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2.86”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2.44”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1.96”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3021028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Brunswick, Carroll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2.89”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2.45”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1.82”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1.50”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1.15”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474658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Cardwell, Dunklin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9.49”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8.49”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7.00”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6.19”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5.23”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466395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Charleston, Mississippi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9.41”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8.55”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7.25”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6.54”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5.67”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295105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Clarkton, Dunklin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9.44”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8.46”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6.98”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6.19”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5.24”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478158"/>
                  </a:ext>
                </a:extLst>
              </a:tr>
              <a:tr h="494056">
                <a:tc>
                  <a:txBody>
                    <a:bodyPr/>
                    <a:lstStyle/>
                    <a:p>
                      <a:r>
                        <a:rPr lang="en-US" sz="1400" dirty="0"/>
                        <a:t>Columbia-Sanborn Field, Boone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4.18”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3.62”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2.82”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2.40”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1.92”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213785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Columbia-South Farms, Boone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4.16”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3.61”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2.81”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2.40”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1.92”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8229908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Cook Station, Crawford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5.71”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5.06”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4.08”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3.56”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2.95”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971368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Corning, Atchison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1.64”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1.36”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0.79”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0.58”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804581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Delta, Cape Girardeau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8.15”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7.27”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5.96”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5.26”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4.42”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7471447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 err="1"/>
                        <a:t>Glennonville</a:t>
                      </a:r>
                      <a:r>
                        <a:rPr lang="en-US" sz="1400" dirty="0"/>
                        <a:t>, Dunklin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9.02”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8.10”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6.72”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5.98”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5.08”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414910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Hayward, Pemiscot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10.13”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9.28”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7.97”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7.25”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6.36”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996517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Lamar, Barton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4.14”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3.61”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2.85”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2.44”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1.98”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952171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 err="1"/>
                        <a:t>Linneus</a:t>
                      </a:r>
                      <a:r>
                        <a:rPr lang="en-US" sz="1400" dirty="0"/>
                        <a:t>, Linn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2.94”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2.55”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1.99”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1.69”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1.35”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671856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Monroe City, Monroe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3.73”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3.24”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2.53”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2.16”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1.73”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71135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Novelty, Knox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3.37”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2.92”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2.27”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1.94”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1.54”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2255389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Portageville, Pemiscot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10.53”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9.64”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8.27”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7.51”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6.58”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11651"/>
                  </a:ext>
                </a:extLst>
              </a:tr>
              <a:tr h="296337">
                <a:tc>
                  <a:txBody>
                    <a:bodyPr/>
                    <a:lstStyle/>
                    <a:p>
                      <a:r>
                        <a:rPr lang="en-US" sz="1400" dirty="0"/>
                        <a:t>St. Joseph, Buchanan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1.93”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1.58”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1.11”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0.88”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0.63”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6364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8340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1068</Words>
  <Application>Microsoft Office PowerPoint</Application>
  <PresentationFormat>Widescreen</PresentationFormat>
  <Paragraphs>484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Schwent, Thomas</dc:creator>
  <cp:lastModifiedBy>Schwent, Thomas</cp:lastModifiedBy>
  <cp:revision>1</cp:revision>
  <dcterms:created xsi:type="dcterms:W3CDTF">2025-06-10T14:11:31Z</dcterms:created>
  <dcterms:modified xsi:type="dcterms:W3CDTF">2025-06-10T15:36:30Z</dcterms:modified>
</cp:coreProperties>
</file>